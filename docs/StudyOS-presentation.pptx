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hyperlink" Target="https://chatgpt.com/g/g-6a2de082a0b88191b833f7307d0c9429-studyos-bo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hyperlink" Target="https://studyplaner.pages.dev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hyperlink" Target="https://studyplaner.pages.dev" TargetMode="Externa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CECEC"/>
                </a:solidFill>
                <a:latin typeface="Inter"/>
              </a:rPr>
              <a:t>StudyOS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4B6BC"/>
                </a:solidFill>
                <a:latin typeface="Inter"/>
              </a:rPr>
              <a:t>Plan your studies in one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8D94"/>
                </a:solidFill>
                <a:latin typeface="Inter"/>
              </a:rPr>
              <a:t>Ben Tischberger · Yonatan Dankner · Emre Sözbilir · Lena Binder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D94"/>
                </a:solidFill>
                <a:latin typeface="Inter"/>
              </a:rPr>
              <a:t>Presented by Ben and Yonatan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26517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CECEC"/>
                </a:solidFill>
                <a:latin typeface="Inter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8D94"/>
                </a:solidFill>
                <a:latin typeface="Inter"/>
              </a:rPr>
              <a:t>problem framing and 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Inter"/>
              </a:rPr>
              <a:t>Problem - What we solve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93391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CECEC"/>
                </a:solidFill>
                <a:latin typeface="Inter"/>
              </a:rPr>
              <a:t>Course info lives in ALMA, PDFs and spreadsheets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496311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774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CECEC"/>
                </a:solidFill>
                <a:latin typeface="Inter"/>
              </a:rPr>
              <a:t>Timetables need manual cross-checking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999231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8035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CECEC"/>
                </a:solidFill>
                <a:latin typeface="Inter"/>
              </a:rPr>
              <a:t>Degree progress is guesswork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10881360" cy="246888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404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CECEC"/>
                </a:solidFill>
                <a:latin typeface="Inter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84048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CEC"/>
                </a:solidFill>
                <a:latin typeface="Inter"/>
              </a:rPr>
              <a:t>Course planning is scattered across systems that don't talk to each other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805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CECEC"/>
                </a:solidFill>
                <a:latin typeface="Inter"/>
              </a:rPr>
              <a:t>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48056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CEC"/>
                </a:solidFill>
                <a:latin typeface="Inter"/>
              </a:rPr>
              <a:t>Informatik students in Tübingen, all six PO 2021 programs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2064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CECEC"/>
                </a:solidFill>
                <a:latin typeface="Inter"/>
              </a:rPr>
              <a:t>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12064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CEC"/>
                </a:solidFill>
                <a:latin typeface="Inter"/>
              </a:rPr>
              <a:t>One app: catalog, weekly timetable and degree progress together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26517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CECEC"/>
                </a:solidFill>
                <a:latin typeface="Inter"/>
              </a:rPr>
              <a:t>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8D94"/>
                </a:solidFill>
                <a:latin typeface="Inter"/>
              </a:rPr>
              <a:t>user research and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Inter"/>
              </a:rPr>
              <a:t>Students - What they told us</a:t>
            </a:r>
          </a:p>
        </p:txBody>
      </p:sp>
      <p:sp>
        <p:nvSpPr>
          <p:cNvPr id="5" name="TextBox 4"/>
          <p:cNvSpPr txBox="1"/>
          <p:nvPr/>
        </p:nvSpPr>
        <p:spPr>
          <a:xfrm rot="21528000">
            <a:off x="1005840" y="2103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Inter"/>
              </a:rPr>
              <a:t>“ALMA is my only info source, but I hate the UI.”</a:t>
            </a:r>
          </a:p>
        </p:txBody>
      </p:sp>
      <p:sp>
        <p:nvSpPr>
          <p:cNvPr id="6" name="TextBox 5"/>
          <p:cNvSpPr txBox="1"/>
          <p:nvPr/>
        </p:nvSpPr>
        <p:spPr>
          <a:xfrm rot="72000">
            <a:off x="6583680" y="2103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Inter"/>
              </a:rPr>
              <a:t>“I plan with Excel and the PO PDF.”</a:t>
            </a:r>
          </a:p>
        </p:txBody>
      </p:sp>
      <p:sp>
        <p:nvSpPr>
          <p:cNvPr id="7" name="TextBox 6"/>
          <p:cNvSpPr txBox="1"/>
          <p:nvPr/>
        </p:nvSpPr>
        <p:spPr>
          <a:xfrm rot="72000">
            <a:off x="1234440" y="3177539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Inter"/>
              </a:rPr>
              <a:t>“I check three sites before every semester.”</a:t>
            </a:r>
          </a:p>
        </p:txBody>
      </p:sp>
      <p:sp>
        <p:nvSpPr>
          <p:cNvPr id="8" name="TextBox 7"/>
          <p:cNvSpPr txBox="1"/>
          <p:nvPr/>
        </p:nvSpPr>
        <p:spPr>
          <a:xfrm rot="21528000">
            <a:off x="6812280" y="3177539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Inter"/>
              </a:rPr>
              <a:t>“Show me which courses fit my degree.”</a:t>
            </a:r>
          </a:p>
        </p:txBody>
      </p:sp>
      <p:sp>
        <p:nvSpPr>
          <p:cNvPr id="9" name="TextBox 8"/>
          <p:cNvSpPr txBox="1"/>
          <p:nvPr/>
        </p:nvSpPr>
        <p:spPr>
          <a:xfrm rot="21528000">
            <a:off x="1005840" y="42519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Inter"/>
              </a:rPr>
              <a:t>“Let me search by professor.”</a:t>
            </a:r>
          </a:p>
        </p:txBody>
      </p:sp>
      <p:sp>
        <p:nvSpPr>
          <p:cNvPr id="10" name="TextBox 9"/>
          <p:cNvSpPr txBox="1"/>
          <p:nvPr/>
        </p:nvSpPr>
        <p:spPr>
          <a:xfrm rot="72000">
            <a:off x="6583680" y="42519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Inter"/>
              </a:rPr>
              <a:t>“One calendar with all my courses.”</a:t>
            </a:r>
          </a:p>
        </p:txBody>
      </p:sp>
      <p:sp>
        <p:nvSpPr>
          <p:cNvPr id="11" name="TextBox 10"/>
          <p:cNvSpPr txBox="1"/>
          <p:nvPr/>
        </p:nvSpPr>
        <p:spPr>
          <a:xfrm rot="72000">
            <a:off x="1234440" y="53263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Inter"/>
              </a:rPr>
              <a:t>“Tell me what I still need to graduate.”</a:t>
            </a:r>
          </a:p>
        </p:txBody>
      </p:sp>
      <p:sp>
        <p:nvSpPr>
          <p:cNvPr id="12" name="TextBox 11"/>
          <p:cNvSpPr txBox="1"/>
          <p:nvPr/>
        </p:nvSpPr>
        <p:spPr>
          <a:xfrm rot="21528000">
            <a:off x="6812280" y="53263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Inter"/>
              </a:rPr>
              <a:t>“Just make it one page.”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26517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CECEC"/>
                </a:solidFill>
                <a:latin typeface="Inter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8D94"/>
                </a:solidFill>
                <a:latin typeface="Inter"/>
              </a:rPr>
              <a:t>concept and solution design</a:t>
            </a:r>
          </a:p>
        </p:txBody>
      </p:sp>
      <p:pic>
        <p:nvPicPr>
          <p:cNvPr id="6" name="Picture 5" descr="studyos-logo-gly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856" y="1691640"/>
            <a:ext cx="777240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Inter"/>
              </a:rPr>
              <a:t>Product - What StudyOS can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011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ECEC"/>
                </a:solidFill>
                <a:latin typeface="Inter"/>
              </a:rPr>
              <a:t>Catalog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514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B4B6BC"/>
                </a:solidFill>
                <a:latin typeface="Inter"/>
              </a:rPr>
              <a:t>All Informatik courses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B4B6BC"/>
                </a:solidFill>
                <a:latin typeface="Inter"/>
              </a:rPr>
              <a:t>Filters and professor search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B4B6BC"/>
                </a:solidFill>
                <a:latin typeface="Inter"/>
              </a:rPr>
              <a:t>Nine semesters of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ECEC"/>
                </a:solidFill>
                <a:latin typeface="Inter"/>
              </a:rPr>
              <a:t>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14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B4B6BC"/>
                </a:solidFill>
                <a:latin typeface="Inter"/>
              </a:rPr>
              <a:t>Weekly timetable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B4B6BC"/>
                </a:solidFill>
                <a:latin typeface="Inter"/>
              </a:rPr>
              <a:t>Conflict check and tutorial groups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B4B6BC"/>
                </a:solidFill>
                <a:latin typeface="Inter"/>
              </a:rPr>
              <a:t>Calendar export (ICS)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6052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4389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ECEC"/>
                </a:solidFill>
                <a:latin typeface="Inter"/>
              </a:rP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4892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B4B6BC"/>
                </a:solidFill>
                <a:latin typeface="Inter"/>
              </a:rPr>
              <a:t>Transcript PDF upload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B4B6BC"/>
                </a:solidFill>
                <a:latin typeface="Inter"/>
              </a:rPr>
              <a:t>Exam regulations tracked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B4B6BC"/>
                </a:solidFill>
                <a:latin typeface="Inter"/>
              </a:rPr>
              <a:t>See what is still open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6052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389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ECEC"/>
                </a:solidFill>
                <a:latin typeface="Inter"/>
              </a:rPr>
              <a:t>Beyond the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892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B4B6BC"/>
                </a:solidFill>
                <a:latin typeface="Inter"/>
              </a:rPr>
              <a:t>GPT access via MCP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B4B6BC"/>
                </a:solidFill>
                <a:latin typeface="Inter"/>
              </a:rPr>
              <a:t>Feedback built in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B4B6BC"/>
                </a:solidFill>
                <a:latin typeface="Inter"/>
              </a:rPr>
              <a:t>German and English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Inter"/>
              </a:rPr>
              <a:t>Product - Degree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ECEC"/>
                </a:solidFill>
                <a:latin typeface="Inter"/>
              </a:rPr>
              <a:t>We support the PO 2021 exam regulations of six programs. Everything works for each of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394960" cy="3977639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CECEC"/>
                </a:solidFill>
                <a:latin typeface="Inter"/>
              </a:rPr>
              <a:t>Bachelor (180 ECTS)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B4B6BC"/>
                </a:solidFill>
                <a:latin typeface="Inter"/>
              </a:rPr>
              <a:t>B.Sc. Informatik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B4B6BC"/>
                </a:solidFill>
                <a:latin typeface="Inter"/>
              </a:rPr>
              <a:t>B.Sc. Bioinformatik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B4B6BC"/>
                </a:solidFill>
                <a:latin typeface="Inter"/>
              </a:rPr>
              <a:t>B.Sc. Medieninformatik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B4B6BC"/>
                </a:solidFill>
                <a:latin typeface="Inter"/>
              </a:rPr>
              <a:t>B.Sc. Medizininformatik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48840"/>
            <a:ext cx="5394960" cy="3977639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423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CECEC"/>
                </a:solidFill>
                <a:latin typeface="Inter"/>
              </a:rPr>
              <a:t>Master (120 ECTS)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1089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B4B6BC"/>
                </a:solidFill>
                <a:latin typeface="Inter"/>
              </a:rPr>
              <a:t>M.Sc. Informatik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B4B6BC"/>
                </a:solidFill>
                <a:latin typeface="Inter"/>
              </a:rPr>
              <a:t>M.Sc.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26517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CECEC"/>
                </a:solidFill>
                <a:latin typeface="Inter"/>
              </a:rP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8D94"/>
                </a:solidFill>
                <a:latin typeface="Inter"/>
              </a:rPr>
              <a:t>implementation and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Inter"/>
              </a:rPr>
              <a:t>Build - How the data flows</a:t>
            </a:r>
          </a:p>
        </p:txBody>
      </p:sp>
      <p:pic>
        <p:nvPicPr>
          <p:cNvPr id="5" name="Picture 4" descr="StudyOS-architecture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010" y="1417320"/>
            <a:ext cx="7683499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Inter"/>
              </a:rPr>
              <a:t>Build - Runs on Cloudflare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221991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Inter"/>
              </a:rPr>
              <a:t>Pages serves the frontend, Workers run the API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80359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61487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Inter"/>
              </a:rPr>
              <a:t>D1: SQLite at the edge, one database for catalog and accounts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38727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19855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Inter"/>
              </a:rPr>
              <a:t>Merge to main deploys automatically, config checked in CI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197095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78223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Inter"/>
              </a:rPr>
              <a:t>Free tier covers all of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860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5F4F2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loudflar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15768"/>
            <a:ext cx="2926080" cy="9692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Inter"/>
              </a:rPr>
              <a:t>Build - How we worked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007" y="1874519"/>
            <a:ext cx="3566160" cy="288036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a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027" y="2148839"/>
            <a:ext cx="960120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6607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CECEC"/>
                </a:solidFill>
                <a:latin typeface="Inter"/>
              </a:rPr>
              <a:t>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3703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B4B6BC"/>
                </a:solidFill>
                <a:latin typeface="Inter"/>
              </a:rPr>
              <a:t>Great at UI work. Expensive.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2767" y="1874519"/>
            <a:ext cx="3566160" cy="288036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urs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5787" y="2148839"/>
            <a:ext cx="960120" cy="960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1367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CECEC"/>
                </a:solidFill>
                <a:latin typeface="Inter"/>
              </a:rPr>
              <a:t>Cursor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3703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B4B6BC"/>
                </a:solidFill>
                <a:latin typeface="Inter"/>
              </a:rPr>
              <a:t>Cheap, solid code. UI taste is meh.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527" y="1874519"/>
            <a:ext cx="3566160" cy="288036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d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4767" y="2103120"/>
            <a:ext cx="868680" cy="868680"/>
          </a:xfrm>
          <a:prstGeom prst="rect">
            <a:avLst/>
          </a:prstGeom>
        </p:spPr>
      </p:pic>
      <p:pic>
        <p:nvPicPr>
          <p:cNvPr id="15" name="Picture 14" descr="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7767" y="2103120"/>
            <a:ext cx="868680" cy="868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6127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CECEC"/>
                </a:solidFill>
                <a:latin typeface="Inter"/>
              </a:rPr>
              <a:t>Codex + 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3703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B4B6BC"/>
                </a:solidFill>
                <a:latin typeface="Inter"/>
              </a:rPr>
              <a:t>Both used with GPT.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CECEC"/>
                </a:solidFill>
                <a:latin typeface="Inter"/>
              </a:rPr>
              <a:t>→  Each tool has clear limits. We mixed them by task and reviewed everything.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Inter"/>
              </a:rPr>
              <a:t>Build - StudyOS Bot, our GPT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6675120" cy="384048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udyos-gpt-screenshot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18469"/>
            <a:ext cx="6217920" cy="304402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635240" y="2359152"/>
            <a:ext cx="73152" cy="73152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22402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CEC"/>
                </a:solidFill>
                <a:latin typeface="Inter"/>
              </a:rPr>
              <a:t>Search courses, resolve one, get details</a:t>
            </a:r>
          </a:p>
        </p:txBody>
      </p:sp>
      <p:sp>
        <p:nvSpPr>
          <p:cNvPr id="9" name="Oval 8"/>
          <p:cNvSpPr/>
          <p:nvPr/>
        </p:nvSpPr>
        <p:spPr>
          <a:xfrm>
            <a:off x="7635240" y="3136392"/>
            <a:ext cx="73152" cy="73152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30175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CEC"/>
                </a:solidFill>
                <a:latin typeface="Inter"/>
              </a:rPr>
              <a:t>Works with ChatGPT, Claude, any MCP client</a:t>
            </a:r>
          </a:p>
        </p:txBody>
      </p:sp>
      <p:sp>
        <p:nvSpPr>
          <p:cNvPr id="11" name="Oval 10"/>
          <p:cNvSpPr/>
          <p:nvPr/>
        </p:nvSpPr>
        <p:spPr>
          <a:xfrm>
            <a:off x="7635240" y="3913632"/>
            <a:ext cx="73152" cy="73152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7947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CEC"/>
                </a:solidFill>
                <a:latin typeface="Inter"/>
              </a:rPr>
              <a:t>Endpoint: studyplaner.pages.dev/mcp</a:t>
            </a:r>
          </a:p>
        </p:txBody>
      </p:sp>
      <p:sp>
        <p:nvSpPr>
          <p:cNvPr id="13" name="TextBox 12">
            <a:hlinkClick r:id="rId4"/>
          </p:cNvPr>
          <p:cNvSpPr txBox="1"/>
          <p:nvPr/>
        </p:nvSpPr>
        <p:spPr>
          <a:xfrm>
            <a:off x="7863840" y="4846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CECEC"/>
                </a:solidFill>
                <a:latin typeface="Inter"/>
              </a:rPr>
              <a:t>Open the StudyOS 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it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26517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CECEC"/>
                </a:solidFill>
                <a:latin typeface="Inter"/>
              </a:rPr>
              <a:t>Iterate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8D94"/>
                </a:solidFill>
                <a:latin typeface="Inter"/>
              </a:rPr>
              <a:t>testing, iteration and shipping</a:t>
            </a:r>
          </a:p>
        </p:txBody>
      </p:sp>
      <p:sp>
        <p:nvSpPr>
          <p:cNvPr id="6" name="Diamond 5"/>
          <p:cNvSpPr/>
          <p:nvPr/>
        </p:nvSpPr>
        <p:spPr>
          <a:xfrm>
            <a:off x="4727448" y="4343400"/>
            <a:ext cx="1371600" cy="1371600"/>
          </a:xfrm>
          <a:prstGeom prst="diamond">
            <a:avLst/>
          </a:prstGeom>
          <a:noFill/>
          <a:ln w="25400">
            <a:solidFill>
              <a:srgbClr val="B4B6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6099048" y="4343400"/>
            <a:ext cx="1371600" cy="1371600"/>
          </a:xfrm>
          <a:prstGeom prst="diamond">
            <a:avLst/>
          </a:prstGeom>
          <a:noFill/>
          <a:ln w="25400">
            <a:solidFill>
              <a:srgbClr val="B4B6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2-compass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3-htm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4-html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5-early-react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6-early-catalog-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7-api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8-studyplanner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9-filters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0-test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1-test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it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Inter"/>
              </a:rPr>
              <a:t>Iterate - Feedback along the way</a:t>
            </a:r>
          </a:p>
        </p:txBody>
      </p:sp>
      <p:sp>
        <p:nvSpPr>
          <p:cNvPr id="5" name="TextBox 4"/>
          <p:cNvSpPr txBox="1"/>
          <p:nvPr/>
        </p:nvSpPr>
        <p:spPr>
          <a:xfrm rot="21528000">
            <a:off x="1005840" y="2103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Inter"/>
              </a:rPr>
              <a:t>“Icons for the semesters instead of writing them out.”</a:t>
            </a:r>
          </a:p>
        </p:txBody>
      </p:sp>
      <p:sp>
        <p:nvSpPr>
          <p:cNvPr id="6" name="TextBox 5"/>
          <p:cNvSpPr txBox="1"/>
          <p:nvPr/>
        </p:nvSpPr>
        <p:spPr>
          <a:xfrm rot="72000">
            <a:off x="6583680" y="2103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Inter"/>
              </a:rPr>
              <a:t>“Make more things clickable, let them set the filters.”</a:t>
            </a:r>
          </a:p>
        </p:txBody>
      </p:sp>
      <p:sp>
        <p:nvSpPr>
          <p:cNvPr id="7" name="TextBox 6"/>
          <p:cNvSpPr txBox="1"/>
          <p:nvPr/>
        </p:nvSpPr>
        <p:spPr>
          <a:xfrm rot="72000">
            <a:off x="1234440" y="3535679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Inter"/>
              </a:rPr>
              <a:t>“Let me drag courses in and out of the calendar.”</a:t>
            </a:r>
          </a:p>
        </p:txBody>
      </p:sp>
      <p:sp>
        <p:nvSpPr>
          <p:cNvPr id="8" name="TextBox 7"/>
          <p:cNvSpPr txBox="1"/>
          <p:nvPr/>
        </p:nvSpPr>
        <p:spPr>
          <a:xfrm rot="21528000">
            <a:off x="6812280" y="3535679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Inter"/>
              </a:rPr>
              <a:t>“Delete looks like collapse, I lost my plan.”</a:t>
            </a:r>
          </a:p>
        </p:txBody>
      </p:sp>
      <p:sp>
        <p:nvSpPr>
          <p:cNvPr id="9" name="TextBox 8"/>
          <p:cNvSpPr txBox="1"/>
          <p:nvPr/>
        </p:nvSpPr>
        <p:spPr>
          <a:xfrm rot="21528000">
            <a:off x="1005840" y="4968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Inter"/>
              </a:rPr>
              <a:t>“Why is everything red? Red means error.”</a:t>
            </a:r>
          </a:p>
        </p:txBody>
      </p:sp>
      <p:sp>
        <p:nvSpPr>
          <p:cNvPr id="10" name="TextBox 9"/>
          <p:cNvSpPr txBox="1"/>
          <p:nvPr/>
        </p:nvSpPr>
        <p:spPr>
          <a:xfrm rot="72000">
            <a:off x="6583680" y="4968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Inter"/>
              </a:rPr>
              <a:t>“Two lecture halls, but no real conflict.”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2-season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3-currentish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5-prod-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4-prod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it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3017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CECEC"/>
                </a:solidFill>
                <a:latin typeface="Inter"/>
              </a:rPr>
              <a:t>…and many more changes than fit in one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it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Inter"/>
              </a:rPr>
              <a:t>Iterate - What we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B6BC"/>
                </a:solidFill>
                <a:latin typeface="Inter"/>
              </a:rPr>
              <a:t>Favorites in terms with no offering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57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ECEC"/>
                </a:solidFill>
                <a:latin typeface="Inter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Inter"/>
              </a:rPr>
              <a:t>Availability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B6BC"/>
                </a:solidFill>
                <a:latin typeface="Inter"/>
              </a:rPr>
              <a:t>Fake room conflicts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97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ECEC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Inter"/>
              </a:rPr>
              <a:t>Fixed conflict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B6BC"/>
                </a:solidFill>
                <a:latin typeface="Inter"/>
              </a:rPr>
              <a:t>Delete looked like collapse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337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ECEC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337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Inter"/>
              </a:rPr>
              <a:t>Clearer 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B6BC"/>
                </a:solidFill>
                <a:latin typeface="Inter"/>
              </a:rPr>
              <a:t>Too much 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977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ECEC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77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Inter"/>
              </a:rPr>
              <a:t>Red only for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B6BC"/>
                </a:solidFill>
                <a:latin typeface="Inter"/>
              </a:rPr>
              <a:t>Crowded planner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617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ECEC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Inter"/>
              </a:rPr>
              <a:t>Decluttered layout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it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Inter"/>
              </a:rPr>
              <a:t>Iterate - Where we are today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221991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CECEC"/>
                </a:solidFill>
                <a:latin typeface="Inter"/>
              </a:rPr>
              <a:t>1,158 courses across 9 semesters, summer 2022 to summer 2026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80359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61487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CECEC"/>
                </a:solidFill>
                <a:latin typeface="Inter"/>
              </a:rPr>
              <a:t>Live at studyplaner.pages.dev, catalog public, account for plans and progress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38727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19855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CECEC"/>
                </a:solidFill>
                <a:latin typeface="Inter"/>
              </a:rPr>
              <a:t>Timetable with ICS export, transcript import, German and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>
            <a:hlinkClick r:id="rId3"/>
          </p:cNvPr>
          <p:cNvSpPr txBox="1"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CECEC"/>
                </a:solidFill>
                <a:latin typeface="Inter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26517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CECEC"/>
                </a:solidFill>
                <a:latin typeface="Inter"/>
              </a:rPr>
              <a:t>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8D94"/>
                </a:solidFill>
                <a:latin typeface="Inter"/>
              </a:rPr>
              <a:t>ideas, maintenance, what could ship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Inter"/>
              </a:rPr>
              <a:t>Future - Watch the log, ship the fix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93391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CEC"/>
                </a:solidFill>
                <a:latin typeface="Inter"/>
              </a:rPr>
              <a:t>The request log already captures failures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523744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0487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CEC"/>
                </a:solidFill>
                <a:latin typeface="Inter"/>
              </a:rPr>
              <a:t>Agents can watch it and propose fixes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054096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3522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CEC"/>
                </a:solidFill>
                <a:latin typeface="Inter"/>
              </a:rPr>
              <a:t>Scraping and deploys already run on their own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584448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6557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CEC"/>
                </a:solidFill>
                <a:latin typeface="Inter"/>
              </a:rPr>
              <a:t>Missing: PO knowledge beyond our programs</a:t>
            </a:r>
          </a:p>
        </p:txBody>
      </p:sp>
      <p:pic>
        <p:nvPicPr>
          <p:cNvPr id="13" name="Picture 12" descr="log-example-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361660"/>
            <a:ext cx="7863840" cy="49576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Inter"/>
              </a:rPr>
              <a:t>Future - Reach and handoff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221991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Inter"/>
              </a:rPr>
              <a:t>Our hope: the Fachschaft takes it over, we are in contact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80359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61487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Inter"/>
              </a:rPr>
              <a:t>Erstiheft and the CS mailing list to reach new students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38727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19855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Inter"/>
              </a:rPr>
              <a:t>Maintenance stays light if scraping and deploys keep running</a:t>
            </a:r>
          </a:p>
        </p:txBody>
      </p:sp>
      <p:pic>
        <p:nvPicPr>
          <p:cNvPr id="11" name="Picture 10" descr="erstiheft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79786"/>
            <a:ext cx="3200400" cy="45042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try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Inter"/>
              </a:rPr>
              <a:t>Try it - Scan or click</a:t>
            </a:r>
          </a:p>
        </p:txBody>
      </p:sp>
      <p:sp>
        <p:nvSpPr>
          <p:cNvPr id="5" name="TextBox 4">
            <a:hlinkClick r:id="rId3"/>
          </p:cNvPr>
          <p:cNvSpPr txBox="1"/>
          <p:nvPr/>
        </p:nvSpPr>
        <p:spPr>
          <a:xfrm>
            <a:off x="822960" y="22860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CECEC"/>
                </a:solidFill>
                <a:latin typeface="Inter"/>
              </a:rPr>
              <a:t>studyplaner.pages.dev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B6BC"/>
                </a:solidFill>
                <a:latin typeface="Inter"/>
              </a:rPr>
              <a:t>The feedback button is in the app. Use it, we read everything.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37360"/>
            <a:ext cx="4480560" cy="457200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udyOS-qr-site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468880"/>
            <a:ext cx="310896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Inter"/>
              </a:rPr>
              <a:t>StudyOS Practical - P. Gehler -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ECEC"/>
                </a:solidFill>
                <a:latin typeface="Inter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