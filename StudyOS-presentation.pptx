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hyperlink" Target="https://chatgpt.com/g/g-6a2de082a0b88191b833f7307d0c9429-studyos-bo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studyplaner.pages.dev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studyplaner.pages.dev" TargetMode="Externa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CECEC"/>
                </a:solidFill>
                <a:latin typeface="Segoe UI"/>
              </a:rPr>
              <a:t>StudyOS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4B6BC"/>
                </a:solidFill>
                <a:latin typeface="Segoe UI"/>
              </a:rPr>
              <a:t>Plan your studies in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D94"/>
                </a:solidFill>
                <a:latin typeface="Segoe UI"/>
              </a:rPr>
              <a:t>Ben Tischberger · Yonatan Dankner · Emre Sözbilir · Lena Binder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D94"/>
                </a:solidFill>
                <a:latin typeface="Segoe UI"/>
              </a:rPr>
              <a:t>Presented by Ben and Yonatan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problem framing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CECEC"/>
                </a:solidFill>
                <a:latin typeface="Segoe UI"/>
              </a:rPr>
              <a:t>Course info lives in ALMA, PDFs and spreadsheets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7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CECEC"/>
                </a:solidFill>
                <a:latin typeface="Segoe UI"/>
              </a:rPr>
              <a:t>Timetables need manual cross-checking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19855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CECEC"/>
                </a:solidFill>
                <a:latin typeface="Segoe UI"/>
              </a:rPr>
              <a:t>Degree progress is guesswork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What students told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user research</a:t>
            </a:r>
          </a:p>
        </p:txBody>
      </p:sp>
      <p:sp>
        <p:nvSpPr>
          <p:cNvPr id="6" name="TextBox 5"/>
          <p:cNvSpPr txBox="1"/>
          <p:nvPr/>
        </p:nvSpPr>
        <p:spPr>
          <a:xfrm rot="21528000">
            <a:off x="100584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“ALMA is my only info source, but I hate the UI.”</a:t>
            </a:r>
          </a:p>
        </p:txBody>
      </p:sp>
      <p:sp>
        <p:nvSpPr>
          <p:cNvPr id="7" name="TextBox 6"/>
          <p:cNvSpPr txBox="1"/>
          <p:nvPr/>
        </p:nvSpPr>
        <p:spPr>
          <a:xfrm rot="72000">
            <a:off x="658368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“I plan with Excel and the PO PDF.”</a:t>
            </a:r>
          </a:p>
        </p:txBody>
      </p:sp>
      <p:sp>
        <p:nvSpPr>
          <p:cNvPr id="8" name="TextBox 7"/>
          <p:cNvSpPr txBox="1"/>
          <p:nvPr/>
        </p:nvSpPr>
        <p:spPr>
          <a:xfrm rot="72000">
            <a:off x="1234440" y="317753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“I check three sites before every semester.”</a:t>
            </a:r>
          </a:p>
        </p:txBody>
      </p:sp>
      <p:sp>
        <p:nvSpPr>
          <p:cNvPr id="9" name="TextBox 8"/>
          <p:cNvSpPr txBox="1"/>
          <p:nvPr/>
        </p:nvSpPr>
        <p:spPr>
          <a:xfrm rot="21528000">
            <a:off x="6812280" y="317753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“Show me which courses fit my degree.”</a:t>
            </a:r>
          </a:p>
        </p:txBody>
      </p:sp>
      <p:sp>
        <p:nvSpPr>
          <p:cNvPr id="10" name="TextBox 9"/>
          <p:cNvSpPr txBox="1"/>
          <p:nvPr/>
        </p:nvSpPr>
        <p:spPr>
          <a:xfrm rot="21528000">
            <a:off x="1005840" y="4251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“Let me search by professor.”</a:t>
            </a:r>
          </a:p>
        </p:txBody>
      </p:sp>
      <p:sp>
        <p:nvSpPr>
          <p:cNvPr id="11" name="TextBox 10"/>
          <p:cNvSpPr txBox="1"/>
          <p:nvPr/>
        </p:nvSpPr>
        <p:spPr>
          <a:xfrm rot="72000">
            <a:off x="6583680" y="4251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“One calendar with all my courses.”</a:t>
            </a:r>
          </a:p>
        </p:txBody>
      </p:sp>
      <p:sp>
        <p:nvSpPr>
          <p:cNvPr id="12" name="TextBox 11"/>
          <p:cNvSpPr txBox="1"/>
          <p:nvPr/>
        </p:nvSpPr>
        <p:spPr>
          <a:xfrm rot="72000">
            <a:off x="1234440" y="53263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“Tell me what I still need to graduate.”</a:t>
            </a:r>
          </a:p>
        </p:txBody>
      </p:sp>
      <p:sp>
        <p:nvSpPr>
          <p:cNvPr id="13" name="TextBox 12"/>
          <p:cNvSpPr txBox="1"/>
          <p:nvPr/>
        </p:nvSpPr>
        <p:spPr>
          <a:xfrm rot="21528000">
            <a:off x="6812280" y="53263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“Just make it one page.”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What StudyOS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concept and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Segoe UI"/>
              </a:rPr>
              <a:t>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All Informatik courses
Filters and professor search
Nine semesters of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Segoe UI"/>
              </a:rPr>
              <a:t>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Weekly timetable
Conflict check and tutorial groups
Calendar export (ICS)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Segoe UI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892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Transcript PDF upload
Exam regulations tracked
See what is still 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605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ECEC"/>
                </a:solidFill>
                <a:latin typeface="Segoe UI"/>
              </a:rPr>
              <a:t>Beyond the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892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GPT access via MCP
Feedback built in
German and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Degree programs we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all PO 2021, official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Segoe UI"/>
              </a:rPr>
              <a:t>Full curriculum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8D94"/>
                </a:solidFill>
                <a:latin typeface="Segoe UI"/>
              </a:rPr>
              <a:t>every module, category and ECTS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B6BC"/>
                </a:solidFill>
                <a:latin typeface="Segoe UI"/>
              </a:rPr>
              <a:t>B.Sc. Informatik (180 ECTS)
M.Sc. Informatik (120 ECTS)
M.Sc. Machine Learning (120 ECTS)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Segoe UI"/>
              </a:rPr>
              <a:t>Progress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8D94"/>
                </a:solidFill>
                <a:latin typeface="Segoe UI"/>
              </a:rPr>
              <a:t>transcript import and requirement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2004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B6BC"/>
                </a:solidFill>
                <a:latin typeface="Segoe UI"/>
              </a:rPr>
              <a:t>B.Sc. Bioinformatik (180 ECTS)
B.Sc. Medieninformatik (180 ECTS)
B.Sc. Medizininformatik (180 ECTS)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How the data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4800600"/>
          </a:xfrm>
          <a:prstGeom prst="roundRect">
            <a:avLst>
              <a:gd name="adj" fmla="val 6000"/>
            </a:avLst>
          </a:prstGeom>
          <a:solidFill>
            <a:srgbClr val="F5F4F2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udyOS-architectur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547" y="1920240"/>
            <a:ext cx="669842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Runs on Cloudflare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implementation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Pages serves the frontend, Workers run the API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7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D1: SQLite at the edge, one database for catalog and accounts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19855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Merge to main deploys automatically, config checked in CI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97095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78223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Free tier covers all of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5F4F2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oudflar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768"/>
            <a:ext cx="2926080" cy="969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How we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practically everything is vibecoded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Segoe UI"/>
              </a:rPr>
              <a:t>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97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Great at UI work. Expensive.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Segoe UI"/>
              </a:rPr>
              <a:t>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97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Cheap, solid code. UI taste is meh.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Segoe UI"/>
              </a:rPr>
              <a:t>Codex / 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8920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The mix in between.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212080" cy="192024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ECEC"/>
                </a:solidFill>
                <a:latin typeface="Segoe UI"/>
              </a:rP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8920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4B6BC"/>
                </a:solidFill>
                <a:latin typeface="Segoe UI"/>
              </a:rPr>
              <a:t>Every tool has a ceiling. Review everything, keep commits small.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StudyOS Bot, our 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talks to the catalog over MCP, read-only, no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675120" cy="384048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udyos-gpt-screenshot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8469"/>
            <a:ext cx="6217920" cy="30440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635240" y="2359152"/>
            <a:ext cx="73152" cy="73152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402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Segoe UI"/>
              </a:rPr>
              <a:t>Search courses, resolve one, get details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3136392"/>
            <a:ext cx="73152" cy="73152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0175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Segoe UI"/>
              </a:rPr>
              <a:t>Works with ChatGPT, Claude, any MCP client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913632"/>
            <a:ext cx="73152" cy="73152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7947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CEC"/>
                </a:solidFill>
                <a:latin typeface="Segoe UI"/>
              </a:rPr>
              <a:t>Endpoint: studyplaner.pages.dev/mcp</a:t>
            </a:r>
          </a:p>
        </p:txBody>
      </p:sp>
      <p:sp>
        <p:nvSpPr>
          <p:cNvPr id="14" name="TextBox 13">
            <a:hlinkClick r:id="rId4"/>
          </p:cNvPr>
          <p:cNvSpPr txBox="1"/>
          <p:nvPr/>
        </p:nvSpPr>
        <p:spPr>
          <a:xfrm>
            <a:off x="7863840" y="484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ECEC"/>
                </a:solidFill>
                <a:latin typeface="Segoe UI"/>
              </a:rPr>
              <a:t>Open the StudyOS 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compass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-htm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-html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-early-react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-early-catalog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-api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-studyplanner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9-filters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-tes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-test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Feedback along the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testing and iteration</a:t>
            </a:r>
          </a:p>
        </p:txBody>
      </p:sp>
      <p:sp>
        <p:nvSpPr>
          <p:cNvPr id="6" name="TextBox 5"/>
          <p:cNvSpPr txBox="1"/>
          <p:nvPr/>
        </p:nvSpPr>
        <p:spPr>
          <a:xfrm rot="21528000">
            <a:off x="100584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“Icons for the semesters instead of writing them out.”</a:t>
            </a:r>
          </a:p>
        </p:txBody>
      </p:sp>
      <p:sp>
        <p:nvSpPr>
          <p:cNvPr id="7" name="TextBox 6"/>
          <p:cNvSpPr txBox="1"/>
          <p:nvPr/>
        </p:nvSpPr>
        <p:spPr>
          <a:xfrm rot="72000">
            <a:off x="658368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“Make more things clickable, let them set the filters.”</a:t>
            </a:r>
          </a:p>
        </p:txBody>
      </p:sp>
      <p:sp>
        <p:nvSpPr>
          <p:cNvPr id="8" name="TextBox 7"/>
          <p:cNvSpPr txBox="1"/>
          <p:nvPr/>
        </p:nvSpPr>
        <p:spPr>
          <a:xfrm rot="72000">
            <a:off x="1234440" y="35356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“Let me drag courses in and out of the calendar.”</a:t>
            </a:r>
          </a:p>
        </p:txBody>
      </p:sp>
      <p:sp>
        <p:nvSpPr>
          <p:cNvPr id="9" name="TextBox 8"/>
          <p:cNvSpPr txBox="1"/>
          <p:nvPr/>
        </p:nvSpPr>
        <p:spPr>
          <a:xfrm rot="21528000">
            <a:off x="6812280" y="35356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“Delete looks like collapse, I lost my plan.”</a:t>
            </a:r>
          </a:p>
        </p:txBody>
      </p:sp>
      <p:sp>
        <p:nvSpPr>
          <p:cNvPr id="10" name="TextBox 9"/>
          <p:cNvSpPr txBox="1"/>
          <p:nvPr/>
        </p:nvSpPr>
        <p:spPr>
          <a:xfrm rot="21528000">
            <a:off x="1005840" y="4968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“Why is everything red? Red means error.”</a:t>
            </a:r>
          </a:p>
        </p:txBody>
      </p:sp>
      <p:sp>
        <p:nvSpPr>
          <p:cNvPr id="11" name="TextBox 10"/>
          <p:cNvSpPr txBox="1"/>
          <p:nvPr/>
        </p:nvSpPr>
        <p:spPr>
          <a:xfrm rot="72000">
            <a:off x="6583680" y="4968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ECEC"/>
                </a:solidFill>
                <a:latin typeface="Segoe UI"/>
              </a:rPr>
              <a:t>“Two lecture halls, but no real conflict.”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2-season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3-currentish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5-prod-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4-prod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880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CECEC"/>
                </a:solidFill>
                <a:latin typeface="Segoe UI"/>
              </a:rPr>
              <a:t>…and many more changes than fit in one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490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D94"/>
                </a:solidFill>
                <a:latin typeface="Segoe UI"/>
              </a:rPr>
              <a:t>Every round of feedback became a fix within days.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What we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Segoe UI"/>
              </a:rPr>
              <a:t>Favorites in terms with no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57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Availability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Segoe UI"/>
              </a:rPr>
              <a:t>Fake room conflicts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Fixed conflict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Segoe UI"/>
              </a:rPr>
              <a:t>Delete looked like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Clearer 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Segoe UI"/>
              </a:rPr>
              <a:t>Too much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77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Red only for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Segoe UI"/>
              </a:rPr>
              <a:t>Crowded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17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ECEC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CEC"/>
                </a:solidFill>
                <a:latin typeface="Segoe UI"/>
              </a:rPr>
              <a:t>Decluttered layout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it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shipped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Segoe UI"/>
              </a:rPr>
              <a:t>1,158 courses across 9 semesters, summer 2022 to summer 2026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7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Segoe UI"/>
              </a:rPr>
              <a:t>Live at studyplaner.pages.dev, catalog public, account for plans and progress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19855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CECEC"/>
                </a:solidFill>
                <a:latin typeface="Segoe UI"/>
              </a:rPr>
              <a:t>Timetable with ICS export, transcript import, German and English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>
            <a:hlinkClick r:id="rId3"/>
          </p:cNvPr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ECEC"/>
                </a:solidFill>
                <a:latin typeface="Segoe UI"/>
              </a:rPr>
              <a:t>Live demo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pic>
        <p:nvPicPr>
          <p:cNvPr id="4" name="Picture 3" descr="log-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87"/>
            <a:ext cx="12191695" cy="6180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355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4B6BC"/>
                </a:solidFill>
                <a:latin typeface="Segoe UI"/>
              </a:rPr>
              <a:t>Idea: an agent watches this log and proposes a fix before anyone reports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D94"/>
                </a:solidFill>
                <a:latin typeface="Segoe UI"/>
              </a:rPr>
              <a:t>it already runs without us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221991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CECEC"/>
                </a:solidFill>
                <a:latin typeface="Segoe UI"/>
              </a:rPr>
              <a:t>Scraping and deploys are automated, the app runs on its own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80359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7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CECEC"/>
                </a:solidFill>
                <a:latin typeface="Segoe UI"/>
              </a:rPr>
              <a:t>Codex-style automation on top: agents fix what the log reports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19855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CECEC"/>
                </a:solidFill>
                <a:latin typeface="Segoe UI"/>
              </a:rPr>
              <a:t>Missing piece: PO knowledge for programs we don't study ourselves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97095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78223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CECEC"/>
                </a:solidFill>
                <a:latin typeface="Segoe UI"/>
              </a:rPr>
              <a:t>The same principle scales to more degree programs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855463"/>
            <a:ext cx="82296" cy="82296"/>
          </a:xfrm>
          <a:prstGeom prst="ellipse">
            <a:avLst/>
          </a:prstGeom>
          <a:solidFill>
            <a:srgbClr val="B4B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36591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CECEC"/>
                </a:solidFill>
                <a:latin typeface="Segoe UI"/>
              </a:rPr>
              <a:t>The Fachschaft keeps it alive, Erstiheft and mailing list reach the students</a:t>
            </a:r>
          </a:p>
        </p:txBody>
      </p:sp>
      <p:pic>
        <p:nvPicPr>
          <p:cNvPr id="16" name="Picture 15" descr="erstihef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25506"/>
            <a:ext cx="3200400" cy="450426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bar-try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07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CEC"/>
                </a:solidFill>
                <a:latin typeface="Segoe UI"/>
              </a:rPr>
              <a:t>Try it</a:t>
            </a:r>
          </a:p>
        </p:txBody>
      </p:sp>
      <p:sp>
        <p:nvSpPr>
          <p:cNvPr id="5" name="TextBox 4">
            <a:hlinkClick r:id="rId3"/>
          </p:cNvPr>
          <p:cNvSpPr txBox="1"/>
          <p:nvPr/>
        </p:nvSpPr>
        <p:spPr>
          <a:xfrm>
            <a:off x="822960" y="22860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CECEC"/>
                </a:solidFill>
                <a:latin typeface="Segoe UI"/>
              </a:rPr>
              <a:t>studyplaner.pages.dev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6BC"/>
                </a:solidFill>
                <a:latin typeface="Segoe UI"/>
              </a:rPr>
              <a:t>The feedback button is in the app. Use it, we read everything.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480560" cy="4572000"/>
          </a:xfrm>
          <a:prstGeom prst="roundRect">
            <a:avLst>
              <a:gd name="adj" fmla="val 6000"/>
            </a:avLst>
          </a:prstGeom>
          <a:solidFill>
            <a:srgbClr val="2E323A"/>
          </a:solidFill>
          <a:ln w="12700">
            <a:solidFill>
              <a:srgbClr val="3C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yOS-qr-site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46888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